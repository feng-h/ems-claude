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1A1A2E"/>
                </a:solidFill>
                <a:latin typeface="PingFang SC"/>
              </a:defRPr>
            </a:pPr>
            <a:r>
              <a:t>EMS 智能管理助手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8A8580"/>
                </a:solidFill>
                <a:latin typeface="PingFang SC"/>
              </a:defRPr>
            </a:pPr>
            <a:r>
              <a:t>设计方案概览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3794760"/>
            <a:ext cx="1554480" cy="3175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3D3D4E"/>
                </a:solidFill>
                <a:latin typeface="PingFang SC"/>
              </a:defRPr>
            </a:pPr>
            <a:r>
              <a:t>第一阶段产品设计  ·  设备运维管理 AI 助手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2567" y="4937760"/>
            <a:ext cx="2011680" cy="384048"/>
          </a:xfrm>
          <a:prstGeom prst="round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设备工程师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0007" y="4937760"/>
            <a:ext cx="2011680" cy="384048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设备主管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67447" y="4937760"/>
            <a:ext cx="2011680" cy="384048"/>
          </a:xfrm>
          <a:prstGeom prst="roundRect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推荐 · 审计 · 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PingFang SC"/>
              </a:defRPr>
            </a:pPr>
            <a:r>
              <a:t>背景与问题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645920" cy="3175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A8580"/>
                </a:solidFill>
                <a:latin typeface="PingFang SC"/>
              </a:defRPr>
            </a:pPr>
            <a:r>
              <a:t>为什么需要 EMS 智能管理助手？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400800"/>
            <a:ext cx="9966960" cy="9525"/>
          </a:xfrm>
          <a:prstGeom prst="rect">
            <a:avLst/>
          </a:prstGeom>
          <a:solidFill>
            <a:srgbClr val="E8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A8580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8A8580"/>
                </a:solidFill>
                <a:latin typeface="PingFang SC"/>
              </a:defRPr>
            </a:pPr>
            <a:r>
              <a:t>EMS Agent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737360"/>
            <a:ext cx="49377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874520"/>
            <a:ext cx="38100" cy="137160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920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数据分散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31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设备手册、维修记录、备件消耗、知识库各自独立，难以形成有效关联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49377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74520"/>
            <a:ext cx="38100" cy="13716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920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经验依赖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331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保养周期和项目主要依靠经验设定，缺乏数据驱动的科学推荐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749039"/>
            <a:ext cx="49377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3886199"/>
            <a:ext cx="38100" cy="1371600"/>
          </a:xfrm>
          <a:prstGeom prst="rect">
            <a:avLst/>
          </a:prstGeom>
          <a:solidFill>
            <a:srgbClr val="C0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931919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审计困难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34339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50,000+ 设备、100+ 车间的维修成本，手工审计效率低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749039"/>
            <a:ext cx="49377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886199"/>
            <a:ext cx="38100" cy="1371600"/>
          </a:xfrm>
          <a:prstGeom prst="rect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931919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决策滞后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34339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管理问题往往在月度报告后才被发现，缺少实时治理建议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PingFang SC"/>
              </a:defRPr>
            </a:pPr>
            <a:r>
              <a:t>目标用户与定位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645920" cy="3175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A8580"/>
                </a:solidFill>
                <a:latin typeface="PingFang SC"/>
              </a:defRPr>
            </a:pPr>
            <a:r>
              <a:t>面向管理层，辅助决策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400800"/>
            <a:ext cx="9966960" cy="9525"/>
          </a:xfrm>
          <a:prstGeom prst="rect">
            <a:avLst/>
          </a:prstGeom>
          <a:solidFill>
            <a:srgbClr val="E8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A8580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8A8580"/>
                </a:solidFill>
                <a:latin typeface="PingFang SC"/>
              </a:defRPr>
            </a:pPr>
            <a:r>
              <a:t>EMS Agent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645920"/>
            <a:ext cx="5029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783080"/>
            <a:ext cx="38100" cy="192024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设备工程师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40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制定保养计划、审核维修记录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9631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管理设备知识库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5234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数据驱动优化保养策略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0837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维修成本合理性审计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645920"/>
            <a:ext cx="5029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1783080"/>
            <a:ext cx="38100" cy="1920240"/>
          </a:xfrm>
          <a:prstGeom prst="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设备主管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240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关注整体设备运行状态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49631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分析 OEE / MTBF / MTTR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75234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识别治理优先级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00837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管理分析报告支持决策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206240"/>
            <a:ext cx="10058400" cy="1920240"/>
          </a:xfrm>
          <a:prstGeom prst="roundRect">
            <a:avLst/>
          </a:prstGeom>
          <a:solidFill>
            <a:srgbClr val="F2F0ED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1A2E"/>
                </a:solidFill>
                <a:latin typeface="PingFang SC"/>
              </a:defRPr>
            </a:pPr>
            <a:r>
              <a:t>产品定位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4663440"/>
            <a:ext cx="1097280" cy="2540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63040" y="4800600"/>
            <a:ext cx="1463040" cy="274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管理助手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800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D3D4E"/>
                </a:solidFill>
                <a:latin typeface="PingFang SC"/>
              </a:defRPr>
            </a:pPr>
            <a:r>
              <a:t>非操作助手，不替代一线点检和维修执行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5184648"/>
            <a:ext cx="1463040" cy="274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只推荐不执行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1846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D3D4E"/>
                </a:solidFill>
                <a:latin typeface="PingFang SC"/>
              </a:defRPr>
            </a:pPr>
            <a:r>
              <a:t>产出推荐和审计线索，业务人员确认后生效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63040" y="5568696"/>
            <a:ext cx="1463040" cy="274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不绕过边界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56869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D3D4E"/>
                </a:solidFill>
                <a:latin typeface="PingFang SC"/>
              </a:defRPr>
            </a:pPr>
            <a:r>
              <a:t>尊重权限边界和 QR 扫码反作弊机制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PingFang SC"/>
              </a:defRPr>
            </a:pPr>
            <a:r>
              <a:t>三大核心场景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645920" cy="3175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A8580"/>
                </a:solidFill>
                <a:latin typeface="PingFang SC"/>
              </a:defRPr>
            </a:pPr>
            <a:r>
              <a:t>从数据到可执行的推荐与分析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400800"/>
            <a:ext cx="9966960" cy="9525"/>
          </a:xfrm>
          <a:prstGeom prst="rect">
            <a:avLst/>
          </a:prstGeom>
          <a:solidFill>
            <a:srgbClr val="E8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A8580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8A8580"/>
                </a:solidFill>
                <a:latin typeface="PingFang SC"/>
              </a:defRPr>
            </a:pPr>
            <a:r>
              <a:t>EMS Agent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645920"/>
            <a:ext cx="320040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1645920"/>
            <a:ext cx="3200400" cy="457200"/>
          </a:xfrm>
          <a:prstGeom prst="round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91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PingFang SC"/>
              </a:defRPr>
            </a:pPr>
            <a:r>
              <a:t>保养优化助手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基于手册指南、历史故障、同类设备表现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推荐保养项目增删和周期调整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识别过度/不足保养风险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645920"/>
            <a:ext cx="320040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17720" y="1645920"/>
            <a:ext cx="3200400" cy="457200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691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PingFang SC"/>
              </a:defRPr>
            </a:pPr>
            <a:r>
              <a:t>维修审计助手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检测可疑维修与保养记录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标记异常类型与风险等级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提供证据链与审核建议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45920"/>
            <a:ext cx="320040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1645920"/>
            <a:ext cx="3200400" cy="457200"/>
          </a:xfrm>
          <a:prstGeom prst="roundRect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691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PingFang SC"/>
              </a:defRPr>
            </a:pPr>
            <a:r>
              <a:t>分析助手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回答结构化管理问题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自然语言结论 + 结构化证据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对比群体与关键指标输出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937760"/>
            <a:ext cx="10058400" cy="1097280"/>
          </a:xfrm>
          <a:prstGeom prst="roundRect">
            <a:avLst/>
          </a:prstGeom>
          <a:solidFill>
            <a:srgbClr val="F2F0ED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5029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统一输出格式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5440680"/>
            <a:ext cx="1828800" cy="347472"/>
          </a:xfrm>
          <a:prstGeom prst="round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结论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49039" y="5440680"/>
            <a:ext cx="1828800" cy="347472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证据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5440680"/>
            <a:ext cx="1828800" cy="347472"/>
          </a:xfrm>
          <a:prstGeom prst="round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风险等级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5440680"/>
            <a:ext cx="1828800" cy="347472"/>
          </a:xfrm>
          <a:prstGeom prst="roundRect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建议动作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PingFang SC"/>
              </a:defRPr>
            </a:pPr>
            <a:r>
              <a:t>交互模式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645920" cy="3175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A8580"/>
                </a:solidFill>
                <a:latin typeface="PingFang SC"/>
              </a:defRPr>
            </a:pPr>
            <a:r>
              <a:t>分层引导式交互，不是纯聊天框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400800"/>
            <a:ext cx="9966960" cy="9525"/>
          </a:xfrm>
          <a:prstGeom prst="rect">
            <a:avLst/>
          </a:prstGeom>
          <a:solidFill>
            <a:srgbClr val="E8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A8580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8A8580"/>
                </a:solidFill>
                <a:latin typeface="PingFang SC"/>
              </a:defRPr>
            </a:pPr>
            <a:r>
              <a:t>EMS Agent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7373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874519"/>
            <a:ext cx="457200" cy="457200"/>
          </a:xfrm>
          <a:prstGeom prst="ellipse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结构化筛选优先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表单筛选器 → 设备、工厂、车间、时间范围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377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E8E5E0"/>
                </a:solidFill>
                <a:latin typeface="PingFang SC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7373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937760" y="1874519"/>
            <a:ext cx="457200" cy="457200"/>
          </a:xfrm>
          <a:prstGeom prst="ellipse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引导模板其次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保养优化 / 维修审计 / 分析助手预设模板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77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E8E5E0"/>
                </a:solidFill>
                <a:latin typeface="PingFang SC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7373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0" y="1874519"/>
            <a:ext cx="457200" cy="457200"/>
          </a:xfrm>
          <a:prstGeom prst="ellipse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自然语言增强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结构化基础上支持自由提问，但受 Tool 约束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023360"/>
            <a:ext cx="10058400" cy="2103120"/>
          </a:xfrm>
          <a:prstGeom prst="roundRect">
            <a:avLst/>
          </a:prstGeom>
          <a:solidFill>
            <a:srgbClr val="F2F0ED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PingFang SC"/>
              </a:defRPr>
            </a:pPr>
            <a:r>
              <a:t>前端页面布局（PC 优先）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3040" y="4663440"/>
            <a:ext cx="29260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00200" y="4709160"/>
            <a:ext cx="914400" cy="256032"/>
          </a:xfrm>
          <a:prstGeom prst="round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左侧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029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PingFang SC"/>
              </a:defRPr>
            </a:pPr>
            <a:r>
              <a:t>筛选面板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349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A8580"/>
                </a:solidFill>
                <a:latin typeface="PingFang SC"/>
              </a:defRPr>
            </a:pPr>
            <a:r>
              <a:t>设备/工厂/车间/时间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4663440"/>
            <a:ext cx="29260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B9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92040" y="4709160"/>
            <a:ext cx="914400" cy="256032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中间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5029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PingFang SC"/>
              </a:defRPr>
            </a:pPr>
            <a:r>
              <a:t>提问 &amp; 模板区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5349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A8580"/>
                </a:solidFill>
                <a:latin typeface="PingFang SC"/>
              </a:defRPr>
            </a:pPr>
            <a:r>
              <a:t>模板选择 + 自然语言输入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663440"/>
            <a:ext cx="29260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B7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83880" y="4709160"/>
            <a:ext cx="914400" cy="256032"/>
          </a:xfrm>
          <a:prstGeom prst="roundRect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右侧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5029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PingFang SC"/>
              </a:defRPr>
            </a:pPr>
            <a:r>
              <a:t>结果展示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5349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A8580"/>
                </a:solidFill>
                <a:latin typeface="PingFang SC"/>
              </a:defRPr>
            </a:pPr>
            <a:r>
              <a:t>结论 / 证据 / 风险 / 建议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PingFang SC"/>
              </a:defRPr>
            </a:pPr>
            <a:r>
              <a:t>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645920" cy="3175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A8580"/>
                </a:solidFill>
                <a:latin typeface="PingFang SC"/>
              </a:defRPr>
            </a:pPr>
            <a:r>
              <a:t>规则与指标先行，LLM 解释在后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400800"/>
            <a:ext cx="9966960" cy="9525"/>
          </a:xfrm>
          <a:prstGeom prst="rect">
            <a:avLst/>
          </a:prstGeom>
          <a:solidFill>
            <a:srgbClr val="E8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A8580"/>
                </a:solidFill>
                <a:latin typeface="PingFang SC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8A8580"/>
                </a:solidFill>
                <a:latin typeface="PingFang SC"/>
              </a:defRPr>
            </a:pPr>
            <a:r>
              <a:t>EMS Agent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640080"/>
          </a:xfrm>
          <a:prstGeom prst="round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508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PingFang SC"/>
              </a:defRPr>
            </a:pPr>
            <a:r>
              <a:t>LLM 是解释层，而非唯一决策者  —  规则识别问题 → 结构化分析计算 → LLM 编写可读建议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468880"/>
            <a:ext cx="242316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2560320"/>
            <a:ext cx="1280160" cy="256032"/>
          </a:xfrm>
          <a:prstGeom prst="round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26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PingFang SC"/>
              </a:defRPr>
            </a:pPr>
            <a:r>
              <a:t>API 接入层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918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A8580"/>
                </a:solidFill>
                <a:latin typeface="PingFang SC"/>
              </a:defRPr>
            </a:pPr>
            <a:r>
              <a:t>阶段一 REST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468880"/>
            <a:ext cx="242316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86200" y="2560320"/>
            <a:ext cx="1280160" cy="256032"/>
          </a:xfrm>
          <a:prstGeom prst="round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926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PingFang SC"/>
              </a:defRPr>
            </a:pPr>
            <a:r>
              <a:t>服务编排层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2918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A8580"/>
                </a:solidFill>
                <a:latin typeface="PingFang SC"/>
              </a:defRPr>
            </a:pPr>
            <a:r>
              <a:t>权限 / 数据收集 / LLM 调用 / 审计日志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468880"/>
            <a:ext cx="242316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0" y="2560320"/>
            <a:ext cx="1280160" cy="256032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analyzer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26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PingFang SC"/>
              </a:defRPr>
            </a:pPr>
            <a:r>
              <a:t>业务分析层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918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A8580"/>
                </a:solidFill>
                <a:latin typeface="PingFang SC"/>
              </a:defRPr>
            </a:pPr>
            <a:r>
              <a:t>保养评分 / 异常检测 / 基准对比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2468880"/>
            <a:ext cx="242316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81160" y="2560320"/>
            <a:ext cx="1280160" cy="256032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926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PingFang SC"/>
              </a:defRPr>
            </a:pPr>
            <a:r>
              <a:t>工具层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2918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A8580"/>
                </a:solidFill>
                <a:latin typeface="PingFang SC"/>
              </a:defRPr>
            </a:pPr>
            <a:r>
              <a:t>可控 EMS 数据能力暴露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572000"/>
            <a:ext cx="242316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88720" y="4663440"/>
            <a:ext cx="1280160" cy="256032"/>
          </a:xfrm>
          <a:prstGeom prst="round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0292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PingFang SC"/>
              </a:defRPr>
            </a:pPr>
            <a:r>
              <a:t>策略层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3949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A8580"/>
                </a:solidFill>
                <a:latin typeface="PingFang SC"/>
              </a:defRPr>
            </a:pPr>
            <a:r>
              <a:t>角色权限 / 组织范围 / 脱敏导出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94760" y="4572000"/>
            <a:ext cx="242316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886200" y="4663440"/>
            <a:ext cx="1280160" cy="256032"/>
          </a:xfrm>
          <a:prstGeom prst="roundRect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50292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PingFang SC"/>
              </a:defRPr>
            </a:pPr>
            <a:r>
              <a:t>提示词层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53949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A8580"/>
                </a:solidFill>
                <a:latin typeface="PingFang SC"/>
              </a:defRPr>
            </a:pPr>
            <a:r>
              <a:t>模板管理 / 中文本地化 / 表达组织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572000"/>
            <a:ext cx="242316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83680" y="4663440"/>
            <a:ext cx="1280160" cy="256032"/>
          </a:xfrm>
          <a:prstGeom prst="roundRect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repository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0292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PingFang SC"/>
              </a:defRPr>
            </a:pPr>
            <a:r>
              <a:t>持久化层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3949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A8580"/>
                </a:solidFill>
                <a:latin typeface="PingFang SC"/>
              </a:defRPr>
            </a:pPr>
            <a:r>
              <a:t>会话 / 产出 / 证据链存储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PingFang SC"/>
              </a:defRPr>
            </a:pPr>
            <a:r>
              <a:t>Tool 设计与安全边界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645920" cy="3175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6400800"/>
            <a:ext cx="9966960" cy="9525"/>
          </a:xfrm>
          <a:prstGeom prst="rect">
            <a:avLst/>
          </a:prstGeom>
          <a:solidFill>
            <a:srgbClr val="E8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A8580"/>
                </a:solidFill>
                <a:latin typeface="PingFang SC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8A8580"/>
                </a:solidFill>
                <a:latin typeface="PingFang SC"/>
              </a:defRPr>
            </a:pPr>
            <a:r>
              <a:t>EMS Agent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554480"/>
            <a:ext cx="242316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6B4A"/>
                </a:solidFill>
                <a:latin typeface="PingFang SC"/>
              </a:defRPr>
            </a:pPr>
            <a:r>
              <a:t>get_equipment_context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659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设备档案 / 类型 / 位置 / 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554480"/>
            <a:ext cx="242316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6459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6B4A"/>
                </a:solidFill>
                <a:latin typeface="PingFang SC"/>
              </a:defRPr>
            </a:pPr>
            <a:r>
              <a:t>get_maintenance_profile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9659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保养计划 / 项目 / 周期 / 完成率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554480"/>
            <a:ext cx="242316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459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6B4A"/>
                </a:solidFill>
                <a:latin typeface="PingFang SC"/>
              </a:defRPr>
            </a:pPr>
            <a:r>
              <a:t>get_repair_history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9659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故障记录 / 维修频率 / 重复故障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554480"/>
            <a:ext cx="242316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6459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9A962"/>
                </a:solidFill>
                <a:latin typeface="PingFang SC"/>
              </a:defRPr>
            </a:pPr>
            <a:r>
              <a:t>get_sparepart_cost_summary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9659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备件消耗 / 成本分布 / 异常波动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108960"/>
            <a:ext cx="242316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2004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9A962"/>
                </a:solidFill>
                <a:latin typeface="PingFang SC"/>
              </a:defRPr>
            </a:pPr>
            <a:r>
              <a:t>get_equipment_benchmark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2044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同类设备对比基准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3108960"/>
            <a:ext cx="242316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2004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B9E87"/>
                </a:solidFill>
                <a:latin typeface="PingFang SC"/>
              </a:defRPr>
            </a:pPr>
            <a:r>
              <a:t>search_manual_knowledge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52044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检索手册 / 知识库证据片段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108960"/>
            <a:ext cx="242316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2004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5B7C99"/>
                </a:solidFill>
                <a:latin typeface="PingFang SC"/>
              </a:defRPr>
            </a:pPr>
            <a:r>
              <a:t>run_maintenance_recommendation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52044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输出结构化保养推荐结果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3108960"/>
            <a:ext cx="242316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32004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5B7C99"/>
                </a:solidFill>
                <a:latin typeface="PingFang SC"/>
              </a:defRPr>
            </a:pPr>
            <a:r>
              <a:t>run_audit_checks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52044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输出结构化异常发现与风险等级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4846320"/>
            <a:ext cx="10058400" cy="1371600"/>
          </a:xfrm>
          <a:prstGeom prst="roundRect">
            <a:avLst/>
          </a:prstGeom>
          <a:solidFill>
            <a:srgbClr val="F2F0ED"/>
          </a:solidFill>
          <a:ln w="9525">
            <a:solidFill>
              <a:srgbClr val="C05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" y="4846320"/>
            <a:ext cx="38100" cy="1371600"/>
          </a:xfrm>
          <a:prstGeom prst="rect">
            <a:avLst/>
          </a:prstGeom>
          <a:solidFill>
            <a:srgbClr val="C0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4892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C05E4E"/>
                </a:solidFill>
                <a:latin typeface="PingFang SC"/>
              </a:defRPr>
            </a:pPr>
            <a:r>
              <a:t>安全边界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303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所有 Tool 调用受用户上下文约束（user_id / factory_id / 组织范围 / 角色）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6235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Service 层注入权限参数，不依赖 LLM 传递  |  跨工厂访问中央层阻断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PingFang SC"/>
              </a:defRPr>
            </a:pPr>
            <a:r>
              <a:t>分析规则体系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645920" cy="3175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A8580"/>
                </a:solidFill>
                <a:latin typeface="PingFang SC"/>
              </a:defRPr>
            </a:pPr>
            <a:r>
              <a:t>确定性规则 + 结构化对比，而非高级自主推理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400800"/>
            <a:ext cx="9966960" cy="9525"/>
          </a:xfrm>
          <a:prstGeom prst="rect">
            <a:avLst/>
          </a:prstGeom>
          <a:solidFill>
            <a:srgbClr val="E8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A8580"/>
                </a:solidFill>
                <a:latin typeface="PingFang SC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8A8580"/>
                </a:solidFill>
                <a:latin typeface="PingFang SC"/>
              </a:defRPr>
            </a:pPr>
            <a:r>
              <a:t>EMS Agent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554480"/>
            <a:ext cx="320040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1554480"/>
            <a:ext cx="3200400" cy="411480"/>
          </a:xfrm>
          <a:prstGeom prst="round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819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PingFang SC"/>
              </a:defRPr>
            </a:pPr>
            <a:r>
              <a:t>保养推荐规则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当前周期 vs 手册推荐周期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故障间隔缩短 → 建议缩短周期 / 增加项目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437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执行稳定且故障低 → 评估放宽周期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1912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频发故障未覆盖 → 增加针对性任务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38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计划不具执行性 → 优化内容而非加工作量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1554480"/>
            <a:ext cx="320040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17720" y="1554480"/>
            <a:ext cx="3200400" cy="411480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5819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PingFang SC"/>
              </a:defRPr>
            </a:pPr>
            <a:r>
              <a:t>审计规则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同类型设备维修成本偏离同组基准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496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保养后短期内故障重复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8437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昂贵备件更换频率异常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1912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相同故障重复但方案从未改变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538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工时异常偏高或偏低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低价值设备保养投入过大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554480"/>
            <a:ext cx="320040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60" y="1554480"/>
            <a:ext cx="3200400" cy="411480"/>
          </a:xfrm>
          <a:prstGeom prst="roundRect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5819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PingFang SC"/>
              </a:defRPr>
            </a:pPr>
            <a:r>
              <a:t>分析规则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高故障 / 高成本设备排行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496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同类设备 MTBF / MTTR 对比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8437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保养投入与故障降低关联分析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1912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D3D4E"/>
                </a:solidFill>
                <a:latin typeface="PingFang SC"/>
              </a:defRPr>
            </a:pPr>
            <a:r>
              <a:t>优先治理候选设备清单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PingFang SC"/>
              </a:defRPr>
            </a:pPr>
            <a:r>
              <a:t>数据基础与增强方向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645920" cy="3175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6400800"/>
            <a:ext cx="9966960" cy="9525"/>
          </a:xfrm>
          <a:prstGeom prst="rect">
            <a:avLst/>
          </a:prstGeom>
          <a:solidFill>
            <a:srgbClr val="E8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A8580"/>
                </a:solidFill>
                <a:latin typeface="PingFang SC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8A8580"/>
                </a:solidFill>
                <a:latin typeface="PingFang SC"/>
              </a:defRPr>
            </a:pPr>
            <a:r>
              <a:t>EMS Agent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B9E87"/>
                </a:solidFill>
                <a:latin typeface="PingFang SC"/>
              </a:defRPr>
            </a:pPr>
            <a:r>
              <a:t>已有数据域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783080"/>
            <a:ext cx="1097280" cy="320040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设备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783080"/>
            <a:ext cx="1097280" cy="320040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维修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783080"/>
            <a:ext cx="1097280" cy="320040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保养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783080"/>
            <a:ext cx="1097280" cy="320040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备件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783080"/>
            <a:ext cx="1097280" cy="320040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统计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783080"/>
            <a:ext cx="1097280" cy="320040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知识库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468880"/>
            <a:ext cx="320040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606040"/>
            <a:ext cx="38100" cy="128016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手册与标准数据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063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结构化设备手册和制造商建议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3192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推荐周期、项目、限制、常见故障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2468880"/>
            <a:ext cx="320040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2606040"/>
            <a:ext cx="38100" cy="128016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运行时数据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063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运行时长、停机时长、负载率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3192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从经验驱动转向条件驱动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468880"/>
            <a:ext cx="320040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2606040"/>
            <a:ext cx="38100" cy="1280160"/>
          </a:xfrm>
          <a:prstGeom prst="rect">
            <a:avLst/>
          </a:prstGeom>
          <a:solidFill>
            <a:srgbClr val="C0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成本明细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063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人工 + 备件 + 外包 + 其他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3192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成本审计更加完整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480560"/>
            <a:ext cx="320040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0" y="4617720"/>
            <a:ext cx="38100" cy="1280160"/>
          </a:xfrm>
          <a:prstGeom prst="rect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588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审计持久化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074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谁问了什么、用了什么数据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3309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返回什么结果、是否被采纳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17720" y="4480560"/>
            <a:ext cx="320040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17720" y="4617720"/>
            <a:ext cx="38100" cy="1280160"/>
          </a:xfrm>
          <a:prstGeom prst="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知识库联动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5074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优先搜索项目知识文章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53309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对比最佳实践、推荐案例入库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4480560"/>
            <a:ext cx="320040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4617720"/>
            <a:ext cx="38100" cy="1280160"/>
          </a:xfrm>
          <a:prstGeom prst="rect">
            <a:avLst/>
          </a:prstGeom>
          <a:solidFill>
            <a:srgbClr val="8A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Memory 模式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5074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Option A: 仅 DB 模式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53309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Option B: 轻量 Mock 演示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PingFang SC"/>
              </a:defRPr>
            </a:pPr>
            <a:r>
              <a:t>实施原则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645920" cy="3175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A8580"/>
                </a:solidFill>
                <a:latin typeface="PingFang SC"/>
              </a:defRPr>
            </a:pPr>
            <a:r>
              <a:t>四项核心原则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400800"/>
            <a:ext cx="9966960" cy="9525"/>
          </a:xfrm>
          <a:prstGeom prst="rect">
            <a:avLst/>
          </a:prstGeom>
          <a:solidFill>
            <a:srgbClr val="E8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A8580"/>
                </a:solidFill>
                <a:latin typeface="PingFang SC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8A8580"/>
                </a:solidFill>
                <a:latin typeface="PingFang SC"/>
              </a:defRPr>
            </a:pPr>
            <a:r>
              <a:t>EMS Agent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645920"/>
            <a:ext cx="502920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1874520"/>
            <a:ext cx="502920" cy="502920"/>
          </a:xfrm>
          <a:prstGeom prst="ellipse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74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PingFang SC"/>
              </a:defRPr>
            </a:pPr>
            <a:r>
              <a:t>推荐而非执行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4231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580"/>
                </a:solidFill>
                <a:latin typeface="PingFang SC"/>
              </a:defRPr>
            </a:pPr>
            <a:r>
              <a:t>不直接变更业务记录，产出推荐和审计线索，需人工确认后生效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502920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20840" y="1874520"/>
            <a:ext cx="502920" cy="502920"/>
          </a:xfrm>
          <a:prstGeom prst="ellipse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874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PingFang SC"/>
              </a:defRPr>
            </a:pPr>
            <a:r>
              <a:t>证据驱动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4231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580"/>
                </a:solidFill>
                <a:latin typeface="PingFang SC"/>
              </a:defRPr>
            </a:pPr>
            <a:r>
              <a:t>每项推荐附带清晰证据来源：手册/保养/维修/成本/同类对比/审计规则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023360"/>
            <a:ext cx="502920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25880" y="4251960"/>
            <a:ext cx="502920" cy="50292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251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PingFang SC"/>
              </a:defRPr>
            </a:pPr>
            <a:r>
              <a:t>结构化优先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8006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580"/>
                </a:solidFill>
                <a:latin typeface="PingFang SC"/>
              </a:defRPr>
            </a:pPr>
            <a:r>
              <a:t>规则指标识别问题 → 结构化分析计算 → LLM 解释发现编写建议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023360"/>
            <a:ext cx="502920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20840" y="4251960"/>
            <a:ext cx="502920" cy="502920"/>
          </a:xfrm>
          <a:prstGeom prst="ellipse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4251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A1A2E"/>
                </a:solidFill>
                <a:latin typeface="PingFang SC"/>
              </a:defRPr>
            </a:pPr>
            <a:r>
              <a:t>中文优先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8006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580"/>
                </a:solidFill>
                <a:latin typeface="PingFang SC"/>
              </a:defRPr>
            </a:pPr>
            <a:r>
              <a:t>默认中文输出，术语对齐国内工厂设备管理用语，可直接使用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A1A2E"/>
                </a:solidFill>
                <a:latin typeface="PingFang SC"/>
              </a:defRPr>
            </a:pPr>
            <a:r>
              <a:t>交付策略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645920" cy="3175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6400800"/>
            <a:ext cx="9966960" cy="9525"/>
          </a:xfrm>
          <a:prstGeom prst="rect">
            <a:avLst/>
          </a:prstGeom>
          <a:solidFill>
            <a:srgbClr val="E8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A8580"/>
                </a:solidFill>
                <a:latin typeface="PingFang SC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8A8580"/>
                </a:solidFill>
                <a:latin typeface="PingFang SC"/>
              </a:defRPr>
            </a:pPr>
            <a:r>
              <a:t>EMS Agent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463040"/>
            <a:ext cx="10058400" cy="731520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508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PingFang SC"/>
              </a:defRPr>
            </a:pPr>
            <a:r>
              <a:t>MVP 最小可行范围：  保养优化推荐  +  维修成本异常审计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560320"/>
            <a:ext cx="24231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8720" y="2606040"/>
            <a:ext cx="1097280" cy="256032"/>
          </a:xfrm>
          <a:prstGeom prst="round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718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PingFang SC"/>
              </a:defRPr>
            </a:pPr>
            <a:r>
              <a:t>只读分析流程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375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基于现有数据构建分析管道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560320"/>
            <a:ext cx="24231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86200" y="2606040"/>
            <a:ext cx="1097280" cy="256032"/>
          </a:xfrm>
          <a:prstGeom prst="round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9718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PingFang SC"/>
              </a:defRPr>
            </a:pPr>
            <a:r>
              <a:t>手册知识检索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3375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结构化手册 + 知识库深度集成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560320"/>
            <a:ext cx="24231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2606040"/>
            <a:ext cx="1097280" cy="256032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PingFang SC"/>
              </a:defRPr>
            </a:pPr>
            <a:r>
              <a:t>固定模板交付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375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保养优化 + 维修审计模板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560320"/>
            <a:ext cx="24231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81160" y="2606040"/>
            <a:ext cx="1097280" cy="256032"/>
          </a:xfrm>
          <a:prstGeom prst="roundRect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9718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PingFang SC"/>
              </a:defRPr>
            </a:pPr>
            <a:r>
              <a:t>开放分析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3375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A8580"/>
                </a:solidFill>
                <a:latin typeface="PingFang SC"/>
              </a:defRPr>
            </a:pPr>
            <a:r>
              <a:t>Tool 约束下的自由提问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572000"/>
            <a:ext cx="10058400" cy="1554480"/>
          </a:xfrm>
          <a:prstGeom prst="roundRect">
            <a:avLst/>
          </a:prstGeom>
          <a:solidFill>
            <a:srgbClr val="F2F0ED"/>
          </a:solidFill>
          <a:ln w="9525">
            <a:solidFill>
              <a:srgbClr val="E8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4663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1A2E"/>
                </a:solidFill>
                <a:latin typeface="PingFang SC"/>
              </a:defRPr>
            </a:pPr>
            <a:r>
              <a:t>技术路径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5074920"/>
            <a:ext cx="1188720" cy="256032"/>
          </a:xfrm>
          <a:prstGeom prst="round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DB 优先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50749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D3D4E"/>
                </a:solidFill>
                <a:latin typeface="PingFang SC"/>
              </a:defRPr>
            </a:pPr>
            <a:r>
              <a:t>优先支持数据库模式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5074920"/>
            <a:ext cx="1188720" cy="256032"/>
          </a:xfrm>
          <a:prstGeom prst="round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全文检索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0749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D3D4E"/>
                </a:solidFill>
                <a:latin typeface="PingFang SC"/>
              </a:defRPr>
            </a:pPr>
            <a:r>
              <a:t>短期 PostgreSQL 全文检索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5074920"/>
            <a:ext cx="1188720" cy="256032"/>
          </a:xfrm>
          <a:prstGeom prst="roundRect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pgvector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50749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D3D4E"/>
                </a:solidFill>
                <a:latin typeface="PingFang SC"/>
              </a:defRPr>
            </a:pPr>
            <a:r>
              <a:t>长期升级语义级检索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1A1A2E"/>
                </a:solidFill>
                <a:latin typeface="PingFang SC"/>
              </a:defRPr>
            </a:pPr>
            <a: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554480"/>
            <a:ext cx="1188720" cy="31750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1188720" cy="457200"/>
          </a:xfrm>
          <a:prstGeom prst="round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PingFang SC"/>
              </a:defRPr>
            </a:pPr>
            <a:r>
              <a:t>设备运维管理 AI 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8580"/>
                </a:solidFill>
                <a:latin typeface="PingFang SC"/>
              </a:defRPr>
            </a:pPr>
            <a:r>
              <a:t>面向工程师与主管的管理决策辅助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834640"/>
            <a:ext cx="1188720" cy="457200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PingFang SC"/>
              </a:defRPr>
            </a:pPr>
            <a:r>
              <a:t>保养优化 + 维修审计 + 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8580"/>
                </a:solidFill>
                <a:latin typeface="PingFang SC"/>
              </a:defRPr>
            </a:pPr>
            <a:r>
              <a:t>分散数据 → 可执行可审计的推荐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657600"/>
            <a:ext cx="1188720" cy="457200"/>
          </a:xfrm>
          <a:prstGeom prst="round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PingFang SC"/>
              </a:defRPr>
            </a:pPr>
            <a:r>
              <a:t>推荐不执行，权限不绕过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8580"/>
                </a:solidFill>
                <a:latin typeface="PingFang SC"/>
              </a:defRPr>
            </a:pPr>
            <a:r>
              <a:t>Agent 推荐，业务人员确认执行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480560"/>
            <a:ext cx="1188720" cy="457200"/>
          </a:xfrm>
          <a:prstGeom prst="roundRect">
            <a:avLst/>
          </a:prstGeom>
          <a:solidFill>
            <a:srgbClr val="7B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技术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PingFang SC"/>
              </a:defRPr>
            </a:pPr>
            <a:r>
              <a:t>规则先行 + LLM 解释 + 证据链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8580"/>
                </a:solidFill>
                <a:latin typeface="PingFang SC"/>
              </a:defRPr>
            </a:pPr>
            <a:r>
              <a:t>结构化分析计算，LLM 作解释层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303520"/>
            <a:ext cx="1188720" cy="457200"/>
          </a:xfrm>
          <a:prstGeom prst="round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交付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PingFang SC"/>
              </a:defRPr>
            </a:pPr>
            <a:r>
              <a:t>MVP：保养推荐 + 维修审计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8580"/>
                </a:solidFill>
                <a:latin typeface="PingFang SC"/>
              </a:defRPr>
            </a:pPr>
            <a:r>
              <a:t>逐步扩展至开放式分析场景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4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62179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D46B4A"/>
                </a:solidFill>
                <a:latin typeface="PingFang SC"/>
              </a:defRPr>
            </a:pPr>
            <a:r>
              <a:t>有用  ·  可控  ·  符合 EMS 强流程与强审计要求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